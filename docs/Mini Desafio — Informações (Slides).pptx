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40" Type="http://schemas.openxmlformats.org/officeDocument/2006/relationships/slide" Target="slides/slide1.xml"/><Relationship Id="rId41" Type="http://schemas.openxmlformats.org/officeDocument/2006/relationships/slide" Target="slides/slide2.xml"/><Relationship Id="rId42" Type="http://schemas.openxmlformats.org/officeDocument/2006/relationships/slide" Target="slides/slide3.xml"/><Relationship Id="rId43" Type="http://schemas.openxmlformats.org/officeDocument/2006/relationships/slide" Target="slides/slide4.xml"/><Relationship Id="rId44" Type="http://schemas.openxmlformats.org/officeDocument/2006/relationships/slide" Target="slides/slide5.xml"/><Relationship Id="rId45" Type="http://schemas.openxmlformats.org/officeDocument/2006/relationships/slide" Target="slides/slide6.xml"/><Relationship Id="rId46" Type="http://schemas.openxmlformats.org/officeDocument/2006/relationships/slide" Target="slides/slide7.xml"/><Relationship Id="rId47" Type="http://schemas.openxmlformats.org/officeDocument/2006/relationships/slide" Target="slides/slide8.xml"/><Relationship Id="rId48" Type="http://schemas.openxmlformats.org/officeDocument/2006/relationships/slide" Target="slides/slide9.xml"/><Relationship Id="rId49" Type="http://schemas.openxmlformats.org/officeDocument/2006/relationships/slide" Target="slides/slide10.xml"/><Relationship Id="rId50" Type="http://schemas.openxmlformats.org/officeDocument/2006/relationships/slide" Target="slides/slide11.xml"/><Relationship Id="rId51" Type="http://schemas.openxmlformats.org/officeDocument/2006/relationships/slide" Target="slides/slide12.xml"/><Relationship Id="rId52" Type="http://schemas.openxmlformats.org/officeDocument/2006/relationships/slide" Target="slides/slide13.xml"/><Relationship Id="rId53" Type="http://schemas.openxmlformats.org/officeDocument/2006/relationships/slide" Target="slides/slide14.xml"/><Relationship Id="rId54" Type="http://schemas.openxmlformats.org/officeDocument/2006/relationships/slide" Target="slides/slide15.xml"/><Relationship Id="rId55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ironia e o gancho: uma consultoria de dados que decide no feeling. Todo mundo na sala ja trabalhou num lugar assim.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papel da Renata e encarnado pelo mentor. A audiencia do painel e ela e o conselho: gente de negocio, nao de dados. Isso muda tudo no vocabulario do painel.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Atencao ao custo_hora: e o custo INTERNO da hora, nao o preco de venda. Quem confunde os dois calcula margem errada e nao percebe.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quatro precisam ser respondidas com clareza suficiente para alguem de negocio entender sem explicacao verbal. Se precisa de voce do lado explicando, nao esta respondida.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lista de problemas nao vem pronta de proposito: o diagnostico de qualidade faz parte da entrega. Qualquer escolha sobre nulos serve, desde que seja declarada e justificada.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Nada de 'aqui eu coloquei um grafico de pizza'. E o mesmo erro do inventario: descrever o que se fez em vez de dizer o que se descobriu.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Domínio da IA vale 15%: prompts com contexto e criterio de aceite, validacao documentada, decisoes assumidas pelo squad. Nao e sobre usar, e sobre saber o que se usou.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dica da margem e o cruzamento central do desafio: receita esta em projetos, custo esta em apontamentos cruzado com analistas.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apresentacao acompanha a pagina 'Mini Desafio: Informacoes' no Notion. O texto completo, com o dicionario de dados campo a campo, esta 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Mudanca em relacao ao plano original: os squads ainda nao escolheram dataset, porque o tour de fontes e a conta do Kaggle ficaram para o Lab. Entao a modelagem de hoje e sobre a base de exemplo da DataConnect, que todo mundo tem.</a:t>
            </a:r>
          </a:p>
          <a:p>
            <a:r>
              <a:t>Erros comuns para corrigir circulando: confundir fato com dimensao, esquecer a chave que liga, tentar medir algo que nao e numerico.</a:t>
            </a:r>
          </a:p>
          <a:p>
            <a:r>
              <a:t>Peca a um squad que apresente o modelo e faca a critica na frente de todos.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Mudanca em relacao ao plano original: os squads ainda nao escolheram dataset, porque o tour de fontes e a conta do Kaggle ficaram para o Lab. Entao a modelagem de hoje e sobre a base de exemplo da DataConnect, que todo mundo tem.</a:t>
            </a:r>
          </a:p>
          <a:p>
            <a:r>
              <a:t>Erros comuns para corrigir circulando: confundir fato com dimensao, esquecer a chave que liga, tentar medir algo que nao e numerico.</a:t>
            </a:r>
          </a:p>
          <a:p>
            <a:r>
              <a:t>Peca a um squad que apresente o modelo e faca a critica na frente de todos.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ported001.png"/><Relationship Id="rId3" Type="http://schemas.openxmlformats.org/officeDocument/2006/relationships/image" Target="../media/imported002.png"/><Relationship Id="rId4" Type="http://schemas.openxmlformats.org/officeDocument/2006/relationships/image" Target="../media/imported003.png"/><Relationship Id="rId5" Type="http://schemas.openxmlformats.org/officeDocument/2006/relationships/notesSlide" Target="../notesSlides/notesSlide3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ported003.png"/><Relationship Id="rId3" Type="http://schemas.openxmlformats.org/officeDocument/2006/relationships/notesSlide" Target="../notesSlides/notesSlide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ported003.png"/><Relationship Id="rId3" Type="http://schemas.openxmlformats.org/officeDocument/2006/relationships/notesSlide" Target="../notesSlides/notesSlide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ported00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ported00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ported00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ported00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ported00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ported003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ported003.png"/><Relationship Id="rId3" Type="http://schemas.openxmlformats.org/officeDocument/2006/relationships/notesSlide" Target="../notesSlides/notesSlide3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ported003.png"/><Relationship Id="rId3" Type="http://schemas.openxmlformats.org/officeDocument/2006/relationships/notesSlide" Target="../notesSlides/notesSlide3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ported003.png"/><Relationship Id="rId3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ported00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ported003.png"/><Relationship Id="rId3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ported00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ported003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28"/>
        </a:solidFill>
      </p:bgPr>
    </p:bg>
    <p:spTree>
      <p:nvGrpSpPr>
        <p:cNvPr id="1" name=""/>
        <p:cNvGrpSpPr/>
        <p:nvPr/>
      </p:nvGrpSpPr>
      <p:grpSpPr/>
      <p:pic>
        <p:nvPicPr>
          <p:cNvPr id="2" name="Image 0" descr="/home/claude/residencia/assets_tpl/trilhas_motif.png">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9082735" y="-548640"/>
            <a:ext cx="3108960" cy="3346704"/>
          </a:xfrm>
          <a:prstGeom prst="rect">
            <a:avLst/>
          </a:prstGeom>
        </p:spPr>
      </p:pic>
      <p:pic>
        <p:nvPicPr>
          <p:cNvPr id="3" name="Image 1" descr="/home/claude/residencia/assets_tpl/lockup_cap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"/>
            <a:ext cx="4572000" cy="188458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66928" y="3127248"/>
            <a:ext cx="164592" cy="164592"/>
          </a:xfrm>
          <a:prstGeom prst="ellipse">
            <a:avLst/>
          </a:prstGeom>
          <a:solidFill>
            <a:srgbClr val="51BAE7"/>
          </a:solidFill>
          <a:ln/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804672" y="300837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1B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DESAFIO · INFORMAÇÕES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02920" y="342900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casa de ferreiro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548640" y="5029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i="1" dirty="0">
                <a:solidFill>
                  <a:srgbClr val="51B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DataConnect vende análise de dados e nunca olhou para os próprios.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548640" y="5650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 guiado, igual para todos os squads  ·  o fluxo inteiro em uma semana</a:t>
            </a:r>
            <a:pPr indent="0" marL="0">
              <a:buNone/>
            </a:pPr>
            <a:endParaRPr lang="en-US" sz="1200" dirty="0"/>
          </a:p>
        </p:txBody>
      </p:sp>
      <p:pic>
        <p:nvPicPr>
          <p:cNvPr id="9" name="Image 2" descr="/home/claude/residencia/assets_tpl/rodape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071616"/>
            <a:ext cx="12191695" cy="7863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28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30352" y="566928"/>
            <a:ext cx="146304" cy="146304"/>
          </a:xfrm>
          <a:prstGeom prst="ellipse">
            <a:avLst/>
          </a:prstGeom>
          <a:solidFill>
            <a:srgbClr val="51BAE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49808" y="4572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7B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CONTEXTO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Cresceu rápido e no feeling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11155680" cy="3840480"/>
          </a:xfrm>
          <a:prstGeom prst="roundRect">
            <a:avLst>
              <a:gd name="adj" fmla="val 2857"/>
            </a:avLst>
          </a:prstGeom>
          <a:solidFill>
            <a:srgbClr val="35352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0" y="2487168"/>
            <a:ext cx="201168" cy="201168"/>
          </a:xfrm>
          <a:prstGeom prst="ellipse">
            <a:avLst/>
          </a:prstGeom>
          <a:solidFill>
            <a:srgbClr val="51BAE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278892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clientes, 140 projetos e seis squads. Ninguém nunca cruzou as tabelas.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14400" y="4681728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de gestão registra tudo desde janeiro de 2024, mas a empresa aceita qualquer projeto que aparece, precifica por comparação com o último orçamento, e descobre que um projeto deu prejuízo só quando o contador fecha o trimestre.</a:t>
            </a:r>
            <a:endParaRPr lang="en-US" sz="1600" dirty="0"/>
          </a:p>
        </p:txBody>
      </p:sp>
      <p:pic>
        <p:nvPicPr>
          <p:cNvPr id="9" name="Image 0" descr="/home/claude/residencia/assets_tpl/rodape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71616"/>
            <a:ext cx="12191695" cy="7863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22815" y="4572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7B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Desafio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28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30352" y="566928"/>
            <a:ext cx="146304" cy="146304"/>
          </a:xfrm>
          <a:prstGeom prst="ellipse">
            <a:avLst/>
          </a:prstGeom>
          <a:solidFill>
            <a:srgbClr val="51BAE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49808" y="4572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7B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CLIENTE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Renata Alencar, sócia-fundadora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11155680" cy="3840480"/>
          </a:xfrm>
          <a:prstGeom prst="roundRect">
            <a:avLst>
              <a:gd name="adj" fmla="val 2857"/>
            </a:avLst>
          </a:prstGeom>
          <a:solidFill>
            <a:srgbClr val="35352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0" y="2487168"/>
            <a:ext cx="201168" cy="201168"/>
          </a:xfrm>
          <a:prstGeom prst="ellipse">
            <a:avLst/>
          </a:prstGeom>
          <a:solidFill>
            <a:srgbClr val="51BAE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278892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“Me digam onde eu piso firme e onde eu estou pisando em ovo.”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14400" y="4681728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“Fechamos o semestre com caixa positivo, então parece que está tudo bem. Mas eu não sei por que está bem, e isso me tira o sono. Não sei qual serviço me dá dinheiro e qual só me dá trabalho. Tenho uma reunião de conselho em duas semanas e preciso chegar lá com uma decisão, não com um relatório.”</a:t>
            </a:r>
            <a:endParaRPr lang="en-US" sz="1600" dirty="0"/>
          </a:p>
        </p:txBody>
      </p:sp>
      <p:pic>
        <p:nvPicPr>
          <p:cNvPr id="9" name="Image 0" descr="/home/claude/residencia/assets_tpl/rodape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71616"/>
            <a:ext cx="12191695" cy="7863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22815" y="4572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7B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Desafio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28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30352" y="566928"/>
            <a:ext cx="146304" cy="146304"/>
          </a:xfrm>
          <a:prstGeom prst="ellipse">
            <a:avLst/>
          </a:prstGeom>
          <a:solidFill>
            <a:srgbClr val="51BAE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49808" y="4572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7B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MISSÃO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painel que termina numa decisão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11155680" cy="3840480"/>
          </a:xfrm>
          <a:prstGeom prst="roundRect">
            <a:avLst>
              <a:gd name="adj" fmla="val 2857"/>
            </a:avLst>
          </a:prstGeom>
          <a:solidFill>
            <a:srgbClr val="35352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0" y="2487168"/>
            <a:ext cx="201168" cy="201168"/>
          </a:xfrm>
          <a:prstGeom prst="ellipse">
            <a:avLst/>
          </a:prstGeom>
          <a:solidFill>
            <a:srgbClr val="51BAE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278892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 Renata olhar o painel e continuar sem saber o que decidir, o squad não entregou.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14400" y="4681728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entrega é um painel no Google Data Studio que responde às perguntas dela e termina numa recomendação explícita: o que a DataConnect deveria fazer diferente no segundo semestre. Um painel bonito que descreve a operação vale menos que um painel simples que aponta um caminho.</a:t>
            </a:r>
            <a:endParaRPr lang="en-US" sz="1600" dirty="0"/>
          </a:p>
        </p:txBody>
      </p:sp>
      <p:pic>
        <p:nvPicPr>
          <p:cNvPr id="9" name="Image 0" descr="/home/claude/residencia/assets_tpl/rodape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71616"/>
            <a:ext cx="12191695" cy="7863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22815" y="4572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7B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Desafio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28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30352" y="566928"/>
            <a:ext cx="146304" cy="146304"/>
          </a:xfrm>
          <a:prstGeom prst="ellipse">
            <a:avLst/>
          </a:prstGeom>
          <a:solidFill>
            <a:srgbClr val="51BAE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49808" y="4572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7B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DADOS · EXPORTAÇÕES CRUAS DO SISTEMA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arquivos, ninguém tratou nada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2834640"/>
            <a:ext cx="2026310" cy="1371600"/>
          </a:xfrm>
          <a:prstGeom prst="roundRect">
            <a:avLst>
              <a:gd name="adj" fmla="val 6667"/>
            </a:avLst>
          </a:prstGeom>
          <a:solidFill>
            <a:srgbClr val="35352F"/>
          </a:solidFill>
          <a:ln w="19050">
            <a:solidFill>
              <a:srgbClr val="51BAE7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369771" y="2688336"/>
            <a:ext cx="292608" cy="292608"/>
          </a:xfrm>
          <a:prstGeom prst="ellipse">
            <a:avLst/>
          </a:prstGeom>
          <a:solidFill>
            <a:srgbClr val="51BAE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369771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090672"/>
            <a:ext cx="2026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785262" y="2834640"/>
            <a:ext cx="2026310" cy="1371600"/>
          </a:xfrm>
          <a:prstGeom prst="roundRect">
            <a:avLst>
              <a:gd name="adj" fmla="val 6667"/>
            </a:avLst>
          </a:prstGeom>
          <a:solidFill>
            <a:srgbClr val="35352F"/>
          </a:solidFill>
          <a:ln w="19050">
            <a:solidFill>
              <a:srgbClr val="51BAE7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652114" y="2688336"/>
            <a:ext cx="292608" cy="292608"/>
          </a:xfrm>
          <a:prstGeom prst="ellipse">
            <a:avLst/>
          </a:prstGeom>
          <a:solidFill>
            <a:srgbClr val="51BAE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65211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85262" y="3090672"/>
            <a:ext cx="2026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apontamentos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67605" y="2834640"/>
            <a:ext cx="2026310" cy="1371600"/>
          </a:xfrm>
          <a:prstGeom prst="roundRect">
            <a:avLst>
              <a:gd name="adj" fmla="val 6667"/>
            </a:avLst>
          </a:prstGeom>
          <a:solidFill>
            <a:srgbClr val="35352F"/>
          </a:solidFill>
          <a:ln w="19050">
            <a:solidFill>
              <a:srgbClr val="FFCE5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34456" y="2688336"/>
            <a:ext cx="292608" cy="292608"/>
          </a:xfrm>
          <a:prstGeom prst="ellipse">
            <a:avLst/>
          </a:prstGeom>
          <a:solidFill>
            <a:srgbClr val="FFCE5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34456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67605" y="3090672"/>
            <a:ext cx="2026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49947" y="2834640"/>
            <a:ext cx="2026310" cy="1371600"/>
          </a:xfrm>
          <a:prstGeom prst="roundRect">
            <a:avLst>
              <a:gd name="adj" fmla="val 6667"/>
            </a:avLst>
          </a:prstGeom>
          <a:solidFill>
            <a:srgbClr val="35352F"/>
          </a:solidFill>
          <a:ln w="19050">
            <a:solidFill>
              <a:srgbClr val="51BAE7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216798" y="2688336"/>
            <a:ext cx="292608" cy="292608"/>
          </a:xfrm>
          <a:prstGeom prst="ellipse">
            <a:avLst/>
          </a:prstGeom>
          <a:solidFill>
            <a:srgbClr val="51BAE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216798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49947" y="3090672"/>
            <a:ext cx="2026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analistas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632290" y="2834640"/>
            <a:ext cx="2026310" cy="1371600"/>
          </a:xfrm>
          <a:prstGeom prst="roundRect">
            <a:avLst>
              <a:gd name="adj" fmla="val 6667"/>
            </a:avLst>
          </a:prstGeom>
          <a:solidFill>
            <a:srgbClr val="35352F"/>
          </a:solidFill>
          <a:ln w="19050">
            <a:solidFill>
              <a:srgbClr val="51BAE7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99141" y="2688336"/>
            <a:ext cx="292608" cy="292608"/>
          </a:xfrm>
          <a:prstGeom prst="ellipse">
            <a:avLst/>
          </a:prstGeom>
          <a:solidFill>
            <a:srgbClr val="51BAE7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0499141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32290" y="3090672"/>
            <a:ext cx="2026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satisfação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8640" y="484632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51B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 projetos (1 linha por projeto) · 9.879 apontamentos (1 linha por hora lançada) · 62 clientes · 24 analistas · 103 pesquisas de NPS. O dicionário de dados campo a campo está na página do Notion.</a:t>
            </a:r>
            <a:endParaRPr lang="en-US" sz="1500" dirty="0"/>
          </a:p>
        </p:txBody>
      </p:sp>
      <p:pic>
        <p:nvPicPr>
          <p:cNvPr id="30" name="Image 0" descr="/home/claude/residencia/assets_tpl/rodape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71616"/>
            <a:ext cx="12191695" cy="78638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9722815" y="4572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7B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Desafio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28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30352" y="566928"/>
            <a:ext cx="146304" cy="146304"/>
          </a:xfrm>
          <a:prstGeom prst="ellipse">
            <a:avLst/>
          </a:prstGeom>
          <a:solidFill>
            <a:srgbClr val="51BAE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49808" y="4572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7B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REGRA DE OURO DO MODELO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dc_projetos é o centro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3535680" cy="3995928"/>
          </a:xfrm>
          <a:prstGeom prst="roundRect">
            <a:avLst>
              <a:gd name="adj" fmla="val 2069"/>
            </a:avLst>
          </a:prstGeom>
          <a:solidFill>
            <a:srgbClr val="35352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95528" y="2203704"/>
            <a:ext cx="298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FB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fatos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5528" y="2743200"/>
            <a:ext cx="298704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Apontamentos são o esforço (o custo real). Satisfação é a percepção. Projetos guarda o contrato e o prazo.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2920" y="1965960"/>
            <a:ext cx="3535680" cy="3995928"/>
          </a:xfrm>
          <a:prstGeom prst="roundRect">
            <a:avLst>
              <a:gd name="adj" fmla="val 2069"/>
            </a:avLst>
          </a:prstGeom>
          <a:solidFill>
            <a:srgbClr val="35352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05528" y="2203704"/>
            <a:ext cx="298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1B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dimensões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605528" y="2743200"/>
            <a:ext cx="298704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traz setor, porte e praça. Analistas traz squad, senioridade e custo por hora.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22920" y="1965960"/>
            <a:ext cx="3535680" cy="3995928"/>
          </a:xfrm>
          <a:prstGeom prst="roundRect">
            <a:avLst>
              <a:gd name="adj" fmla="val 2069"/>
            </a:avLst>
          </a:prstGeom>
          <a:solidFill>
            <a:srgbClr val="35352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415528" y="2203704"/>
            <a:ext cx="298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FD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ligação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5528" y="2743200"/>
            <a:ext cx="298704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se liga a projetos por projeto_id, e o cliente entra por cliente_id. É o mesmo desenho fato e dimensão da Semana 2.</a:t>
            </a:r>
            <a:endParaRPr lang="en-US" sz="1300" dirty="0"/>
          </a:p>
        </p:txBody>
      </p:sp>
      <p:pic>
        <p:nvPicPr>
          <p:cNvPr id="14" name="Image 0" descr="/home/claude/residencia/assets_tpl/rodape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71616"/>
            <a:ext cx="12191695" cy="78638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722815" y="4572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7B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Desafio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28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30352" y="566928"/>
            <a:ext cx="146304" cy="146304"/>
          </a:xfrm>
          <a:prstGeom prst="ellipse">
            <a:avLst/>
          </a:prstGeom>
          <a:solidFill>
            <a:srgbClr val="51BAE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49808" y="4572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7B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PERGUNTAS DA RENATA · OBRIGATÓRIAS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Quatro, e todas no painel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5440680" cy="1860804"/>
          </a:xfrm>
          <a:prstGeom prst="roundRect">
            <a:avLst>
              <a:gd name="adj" fmla="val 3931"/>
            </a:avLst>
          </a:prstGeom>
          <a:solidFill>
            <a:srgbClr val="35352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95528" y="2203704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1B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Onde está o dinheiro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5528" y="2743200"/>
            <a:ext cx="4892040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linha de serviço dá dinheiro e qual não dá. Receita contratada contra o custo real das horas apontadas, em reais e em porcentagem.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965960"/>
            <a:ext cx="5440680" cy="1860804"/>
          </a:xfrm>
          <a:prstGeom prst="roundRect">
            <a:avLst>
              <a:gd name="adj" fmla="val 3931"/>
            </a:avLst>
          </a:prstGeom>
          <a:solidFill>
            <a:srgbClr val="35352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510528" y="2203704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FB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Onde estoura o prazo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510528" y="2743200"/>
            <a:ext cx="4892040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Percentual de projetos atrasados e atraso médio, por tipo de serviço e por squad.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4101084"/>
            <a:ext cx="5440680" cy="1860804"/>
          </a:xfrm>
          <a:prstGeom prst="roundRect">
            <a:avLst>
              <a:gd name="adj" fmla="val 3931"/>
            </a:avLst>
          </a:prstGeom>
          <a:solidFill>
            <a:srgbClr val="35352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95528" y="433882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FD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Sobrecarga ou venda errada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95528" y="4878324"/>
            <a:ext cx="4892040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apontadas contra horas vendidas. Aqui a leitura importa tanto quanto o número.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4101084"/>
            <a:ext cx="5440680" cy="1860804"/>
          </a:xfrm>
          <a:prstGeom prst="roundRect">
            <a:avLst>
              <a:gd name="adj" fmla="val 3931"/>
            </a:avLst>
          </a:prstGeom>
          <a:solidFill>
            <a:srgbClr val="35352F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10528" y="433882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C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O que derruba o NPS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510528" y="4878324"/>
            <a:ext cx="4892040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Relação entre a nota do cliente e alguma variável da operação: atraso, tipo de serviço, squad ou setor.</a:t>
            </a:r>
            <a:endParaRPr lang="en-US" sz="1300" dirty="0"/>
          </a:p>
        </p:txBody>
      </p:sp>
      <p:pic>
        <p:nvPicPr>
          <p:cNvPr id="17" name="Image 0" descr="/home/claude/residencia/assets_tpl/rodape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71616"/>
            <a:ext cx="12191695" cy="78638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722815" y="4572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7B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Desafio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28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30352" y="566928"/>
            <a:ext cx="146304" cy="146304"/>
          </a:xfrm>
          <a:prstGeom prst="ellipse">
            <a:avLst/>
          </a:prstGeom>
          <a:solidFill>
            <a:srgbClr val="51BAE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49808" y="4572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7B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PERGUNTA LIVRE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quinta é de vocês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11155680" cy="3840480"/>
          </a:xfrm>
          <a:prstGeom prst="roundRect">
            <a:avLst>
              <a:gd name="adj" fmla="val 2857"/>
            </a:avLst>
          </a:prstGeom>
          <a:solidFill>
            <a:srgbClr val="35352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0" y="2487168"/>
            <a:ext cx="201168" cy="201168"/>
          </a:xfrm>
          <a:prstGeom prst="ellipse">
            <a:avLst/>
          </a:prstGeom>
          <a:solidFill>
            <a:srgbClr val="51BAE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278892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squad escolhe uma quinta pergunta, defende por que ela importa e a responde.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14400" y="4681728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aqui que se separa quem executou tarefa de quem pensou como analista. A pergunta precisa passar na régua das quatro partes: métrica definida, universo claro, recorte de tempo e dimensão de corte.</a:t>
            </a:r>
            <a:endParaRPr lang="en-US" sz="1600" dirty="0"/>
          </a:p>
        </p:txBody>
      </p:sp>
      <p:pic>
        <p:nvPicPr>
          <p:cNvPr id="9" name="Image 0" descr="/home/claude/residencia/assets_tpl/rodape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71616"/>
            <a:ext cx="12191695" cy="7863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22815" y="4572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7B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Desafio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28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30352" y="566928"/>
            <a:ext cx="146304" cy="146304"/>
          </a:xfrm>
          <a:prstGeom prst="ellipse">
            <a:avLst/>
          </a:prstGeom>
          <a:solidFill>
            <a:srgbClr val="51BAE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49808" y="4572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7B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ESTADO DOS DADOS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confie em nada antes de olhar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5440680" cy="3840480"/>
          </a:xfrm>
          <a:prstGeom prst="roundRect">
            <a:avLst>
              <a:gd name="adj" fmla="val 2381"/>
            </a:avLst>
          </a:prstGeom>
          <a:solidFill>
            <a:srgbClr val="35352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95528" y="2395728"/>
            <a:ext cx="182880" cy="182880"/>
          </a:xfrm>
          <a:prstGeom prst="ellipse">
            <a:avLst/>
          </a:prstGeom>
          <a:solidFill>
            <a:srgbClr val="51BAE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88136" y="2240280"/>
            <a:ext cx="4581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1B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agregar qualquer coisa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4800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Duplicatas: agregar sem deduplicar infla tudo</a:t>
            </a:r>
            <a:endParaRPr lang="en-US" sz="145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Chaves: todo projeto_id existe dos dois lados?</a:t>
            </a:r>
            <a:endParaRPr lang="en-US" sz="145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Datas: mm/dd/aaaa disfarçado de dd/mm/aaaa</a:t>
            </a:r>
            <a:endParaRPr lang="en-US" sz="145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 como texto: somar texto não soma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63640" y="2011680"/>
            <a:ext cx="5440680" cy="3840480"/>
          </a:xfrm>
          <a:prstGeom prst="roundRect">
            <a:avLst>
              <a:gd name="adj" fmla="val 2381"/>
            </a:avLst>
          </a:prstGeom>
          <a:solidFill>
            <a:srgbClr val="35352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556248" y="2395728"/>
            <a:ext cx="182880" cy="182880"/>
          </a:xfrm>
          <a:prstGeom prst="ellipse">
            <a:avLst/>
          </a:prstGeom>
          <a:solidFill>
            <a:srgbClr val="FFCE50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48856" y="2240280"/>
            <a:ext cx="4581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ainda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83680" y="2880360"/>
            <a:ext cx="4800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Categorias: Dashboard BI e dashboard bi são duas</a:t>
            </a:r>
            <a:endParaRPr lang="en-US" sz="145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Nulos: descartar, imputar ou virar categoria?</a:t>
            </a:r>
            <a:endParaRPr lang="en-US" sz="145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Outliers: horas impossíveis num dia só</a:t>
            </a:r>
            <a:endParaRPr lang="en-US" sz="145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Espaço e acento: ' Varejo ' não agrupa com 'Varejo'</a:t>
            </a:r>
            <a:endParaRPr lang="en-US" sz="1450" dirty="0"/>
          </a:p>
        </p:txBody>
      </p:sp>
      <p:pic>
        <p:nvPicPr>
          <p:cNvPr id="13" name="Image 0" descr="/home/claude/residencia/assets_tpl/rodape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71616"/>
            <a:ext cx="12191695" cy="7863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722815" y="4572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7B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Desafio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28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30352" y="566928"/>
            <a:ext cx="146304" cy="146304"/>
          </a:xfrm>
          <a:prstGeom prst="ellipse">
            <a:avLst/>
          </a:prstGeom>
          <a:solidFill>
            <a:srgbClr val="51BAE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49808" y="4572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7B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ENTREGÁVEIS · TUDO NO DOMINGO, 23H59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coisas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3E3E37"/>
          </a:solidFill>
          <a:ln w="15875">
            <a:solidFill>
              <a:srgbClr val="51BAE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1B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755648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no Google Data Studio, link com acesso de leitura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248716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3E3E37"/>
          </a:solidFill>
          <a:ln w="15875">
            <a:solidFill>
              <a:srgbClr val="51BA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1B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414016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executivo de 1 página, redigido com IA e revisado pelo squad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02920" y="314553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3E3E37"/>
          </a:solidFill>
          <a:ln w="15875">
            <a:solidFill>
              <a:srgbClr val="51BAE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02920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1B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072384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demo de até 3 minutos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02920" y="380390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3E3E37"/>
          </a:solidFill>
          <a:ln w="15875">
            <a:solidFill>
              <a:srgbClr val="51BAE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02920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1B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3730752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do Colab com o pipeline e o log de transformações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7B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cinco primeiros no domingo. A apresentação é no Encontro 1 da semana seguinte.</a:t>
            </a:r>
            <a:endParaRPr lang="en-US" sz="1200" dirty="0"/>
          </a:p>
        </p:txBody>
      </p:sp>
      <p:pic>
        <p:nvPicPr>
          <p:cNvPr id="18" name="Image 0" descr="/home/claude/residencia/assets_tpl/rodape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71616"/>
            <a:ext cx="12191695" cy="78638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722815" y="4572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7B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Desafio</a:t>
            </a:r>
            <a:endParaRPr lang="en-US" sz="1000" dirty="0"/>
          </a:p>
        </p:txBody>
      </p:sp>
      <p:sp>
        <p:nvSpPr>
          <p:cNvPr id="5" name="Shape 3 r4"/>
          <p:cNvSpPr/>
          <p:nvPr/>
        </p:nvSpPr>
        <p:spPr>
          <a:xfrm>
            <a:off x="502920" y="446227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3E3E37"/>
          </a:solidFill>
          <a:ln w="15875">
            <a:solidFill>
              <a:srgbClr val="51BAE7"/>
            </a:solidFill>
            <a:prstDash val="solid"/>
          </a:ln>
        </p:spPr>
        <p:txBody>
          <a:bodyPr/>
          <a:p/>
        </p:txBody>
      </p:sp>
      <p:sp>
        <p:nvSpPr>
          <p:cNvPr id="6" name="Text 4 r4"/>
          <p:cNvSpPr/>
          <p:nvPr/>
        </p:nvSpPr>
        <p:spPr>
          <a:xfrm>
            <a:off x="502920" y="4462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1B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 r4"/>
          <p:cNvSpPr/>
          <p:nvPr/>
        </p:nvSpPr>
        <p:spPr>
          <a:xfrm>
            <a:off x="960120" y="4389120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uso de IA: o que pedi, como validei, o que corrigi</a:t>
            </a:r>
            <a:endParaRPr lang="en-US" sz="1450" dirty="0"/>
          </a:p>
        </p:txBody>
      </p:sp>
      <p:sp>
        <p:nvSpPr>
          <p:cNvPr id="5" name="Shape 3 r5"/>
          <p:cNvSpPr/>
          <p:nvPr/>
        </p:nvSpPr>
        <p:spPr>
          <a:xfrm>
            <a:off x="502920" y="512064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3E3E37"/>
          </a:solidFill>
          <a:ln w="15875">
            <a:solidFill>
              <a:srgbClr val="51BAE7"/>
            </a:solidFill>
            <a:prstDash val="solid"/>
          </a:ln>
        </p:spPr>
        <p:txBody>
          <a:bodyPr/>
          <a:p/>
        </p:txBody>
      </p:sp>
      <p:sp>
        <p:nvSpPr>
          <p:cNvPr id="6" name="Text 4 r5"/>
          <p:cNvSpPr/>
          <p:nvPr/>
        </p:nvSpPr>
        <p:spPr>
          <a:xfrm>
            <a:off x="502920" y="5120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1B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 r5"/>
          <p:cNvSpPr/>
          <p:nvPr/>
        </p:nvSpPr>
        <p:spPr>
          <a:xfrm>
            <a:off x="960120" y="5047488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ao vivo: 7 minutos por squad mais 5 de arguição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28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30352" y="566928"/>
            <a:ext cx="146304" cy="146304"/>
          </a:xfrm>
          <a:prstGeom prst="ellipse">
            <a:avLst/>
          </a:prstGeom>
          <a:solidFill>
            <a:srgbClr val="51BAE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49808" y="4572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7B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PAINEL PRECISA TER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página, no máximo duas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203911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3E3E37"/>
          </a:solidFill>
          <a:ln w="15875">
            <a:solidFill>
              <a:srgbClr val="51BAE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2039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1B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965960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linha de KPIs no topo: o número que a Renata olha primeiro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278892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3E3E37"/>
          </a:solidFill>
          <a:ln w="15875">
            <a:solidFill>
              <a:srgbClr val="51BA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1B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715768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Pelo menos um filtro funcionando: período, squad ou tipo de serviço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02920" y="353872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3E3E37"/>
          </a:solidFill>
          <a:ln w="15875">
            <a:solidFill>
              <a:srgbClr val="51BAE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02920" y="3538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1B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465576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bloco de recomendação em português de negócio, sem jargão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02920" y="428853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3E3E37"/>
          </a:solidFill>
          <a:ln w="15875">
            <a:solidFill>
              <a:srgbClr val="51BAE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02920" y="4288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1B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4215384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nota de limitações: o que estes dados não respondem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7B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restrição de uma página é proposital: obriga a escolher o que importa. Honestidade sobre limitações conta ponto.</a:t>
            </a:r>
            <a:endParaRPr lang="en-US" sz="1200" dirty="0"/>
          </a:p>
        </p:txBody>
      </p:sp>
      <p:pic>
        <p:nvPicPr>
          <p:cNvPr id="18" name="Image 0" descr="/home/claude/residencia/assets_tpl/rodape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71616"/>
            <a:ext cx="12191695" cy="78638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722815" y="4572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7B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Desafio</a:t>
            </a:r>
            <a:endParaRPr lang="en-US" sz="1000" dirty="0"/>
          </a:p>
        </p:txBody>
      </p:sp>
      <p:sp>
        <p:nvSpPr>
          <p:cNvPr id="5" name="Shape 3 r4"/>
          <p:cNvSpPr/>
          <p:nvPr/>
        </p:nvSpPr>
        <p:spPr>
          <a:xfrm>
            <a:off x="502920" y="503834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3E3E37"/>
          </a:solidFill>
          <a:ln w="15875">
            <a:solidFill>
              <a:srgbClr val="51BAE7"/>
            </a:solidFill>
            <a:prstDash val="solid"/>
          </a:ln>
        </p:spPr>
        <p:txBody>
          <a:bodyPr/>
          <a:p/>
        </p:txBody>
      </p:sp>
      <p:sp>
        <p:nvSpPr>
          <p:cNvPr id="6" name="Text 4 r4"/>
          <p:cNvSpPr/>
          <p:nvPr/>
        </p:nvSpPr>
        <p:spPr>
          <a:xfrm>
            <a:off x="502920" y="5038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1B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 r4"/>
          <p:cNvSpPr/>
          <p:nvPr/>
        </p:nvSpPr>
        <p:spPr>
          <a:xfrm>
            <a:off x="960120" y="4965192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mensagem por bloco, e o gráfico adequado a ela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28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30352" y="566928"/>
            <a:ext cx="146304" cy="146304"/>
          </a:xfrm>
          <a:prstGeom prst="ellipse">
            <a:avLst/>
          </a:prstGeom>
          <a:solidFill>
            <a:srgbClr val="51BAE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49808" y="4572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7B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VÍDEO · TRÊS MINUTOS, NESTA ORDEM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tour de ferramenta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3535680" cy="3995928"/>
          </a:xfrm>
          <a:prstGeom prst="roundRect">
            <a:avLst>
              <a:gd name="adj" fmla="val 2069"/>
            </a:avLst>
          </a:prstGeom>
          <a:solidFill>
            <a:srgbClr val="35352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95528" y="2203704"/>
            <a:ext cx="298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FB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segundos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5528" y="2743200"/>
            <a:ext cx="298704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da Renata, na voz dela. Por que alguém pediu isso.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2920" y="1965960"/>
            <a:ext cx="3535680" cy="3995928"/>
          </a:xfrm>
          <a:prstGeom prst="roundRect">
            <a:avLst>
              <a:gd name="adj" fmla="val 2069"/>
            </a:avLst>
          </a:prstGeom>
          <a:solidFill>
            <a:srgbClr val="35352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05528" y="2203704"/>
            <a:ext cx="298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1B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segundos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605528" y="2743200"/>
            <a:ext cx="298704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vocês encontraram. Os números, e o que eles querem dizer.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22920" y="1965960"/>
            <a:ext cx="3535680" cy="3995928"/>
          </a:xfrm>
          <a:prstGeom prst="roundRect">
            <a:avLst>
              <a:gd name="adj" fmla="val 2069"/>
            </a:avLst>
          </a:prstGeom>
          <a:solidFill>
            <a:srgbClr val="35352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415528" y="2203704"/>
            <a:ext cx="298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FD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segundos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5528" y="2743200"/>
            <a:ext cx="298704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vocês recomendam e por quê. Termina numa frase de decisão.</a:t>
            </a:r>
            <a:endParaRPr lang="en-US" sz="1300" dirty="0"/>
          </a:p>
        </p:txBody>
      </p:sp>
      <p:pic>
        <p:nvPicPr>
          <p:cNvPr id="14" name="Image 0" descr="/home/claude/residencia/assets_tpl/rodape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71616"/>
            <a:ext cx="12191695" cy="78638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722815" y="4572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7B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Desafio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28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30352" y="566928"/>
            <a:ext cx="146304" cy="146304"/>
          </a:xfrm>
          <a:prstGeom prst="ellipse">
            <a:avLst/>
          </a:prstGeom>
          <a:solidFill>
            <a:srgbClr val="51BAE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49808" y="4572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7B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CAMINHO ATÉ A ENTREGA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 da semana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2834640"/>
            <a:ext cx="2026310" cy="1371600"/>
          </a:xfrm>
          <a:prstGeom prst="roundRect">
            <a:avLst>
              <a:gd name="adj" fmla="val 6667"/>
            </a:avLst>
          </a:prstGeom>
          <a:solidFill>
            <a:srgbClr val="35352F"/>
          </a:solidFill>
          <a:ln w="19050">
            <a:solidFill>
              <a:srgbClr val="51BAE7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369771" y="2688336"/>
            <a:ext cx="292608" cy="292608"/>
          </a:xfrm>
          <a:prstGeom prst="ellipse">
            <a:avLst/>
          </a:prstGeom>
          <a:solidFill>
            <a:srgbClr val="51BAE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369771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090672"/>
            <a:ext cx="2026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e brief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510942" y="283464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1B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85262" y="2834640"/>
            <a:ext cx="2026310" cy="1371600"/>
          </a:xfrm>
          <a:prstGeom prst="roundRect">
            <a:avLst>
              <a:gd name="adj" fmla="val 6667"/>
            </a:avLst>
          </a:prstGeom>
          <a:solidFill>
            <a:srgbClr val="35352F"/>
          </a:solidFill>
          <a:ln w="19050">
            <a:solidFill>
              <a:srgbClr val="51BAE7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652114" y="2688336"/>
            <a:ext cx="292608" cy="292608"/>
          </a:xfrm>
          <a:prstGeom prst="ellipse">
            <a:avLst/>
          </a:prstGeom>
          <a:solidFill>
            <a:srgbClr val="51BAE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65211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85262" y="3090672"/>
            <a:ext cx="2026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Data Studio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93285" y="283464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1B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67605" y="2834640"/>
            <a:ext cx="2026310" cy="1371600"/>
          </a:xfrm>
          <a:prstGeom prst="roundRect">
            <a:avLst>
              <a:gd name="adj" fmla="val 6667"/>
            </a:avLst>
          </a:prstGeom>
          <a:solidFill>
            <a:srgbClr val="35352F"/>
          </a:solidFill>
          <a:ln w="19050">
            <a:solidFill>
              <a:srgbClr val="FFCE5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34456" y="2688336"/>
            <a:ext cx="292608" cy="292608"/>
          </a:xfrm>
          <a:prstGeom prst="ellipse">
            <a:avLst/>
          </a:prstGeom>
          <a:solidFill>
            <a:srgbClr val="FFCE5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34456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67605" y="3090672"/>
            <a:ext cx="2026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KICK-OFF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75627" y="283464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1B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49947" y="2834640"/>
            <a:ext cx="2026310" cy="1371600"/>
          </a:xfrm>
          <a:prstGeom prst="roundRect">
            <a:avLst>
              <a:gd name="adj" fmla="val 6667"/>
            </a:avLst>
          </a:prstGeom>
          <a:solidFill>
            <a:srgbClr val="35352F"/>
          </a:solidFill>
          <a:ln w="19050">
            <a:solidFill>
              <a:srgbClr val="51BAE7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216798" y="2688336"/>
            <a:ext cx="292608" cy="292608"/>
          </a:xfrm>
          <a:prstGeom prst="ellipse">
            <a:avLst/>
          </a:prstGeom>
          <a:solidFill>
            <a:srgbClr val="51BAE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216798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49947" y="3090672"/>
            <a:ext cx="2026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fim de semana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357970" y="283464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1B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632290" y="2834640"/>
            <a:ext cx="2026310" cy="1371600"/>
          </a:xfrm>
          <a:prstGeom prst="roundRect">
            <a:avLst>
              <a:gd name="adj" fmla="val 6667"/>
            </a:avLst>
          </a:prstGeom>
          <a:solidFill>
            <a:srgbClr val="35352F"/>
          </a:solidFill>
          <a:ln w="19050">
            <a:solidFill>
              <a:srgbClr val="51BAE7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99141" y="2688336"/>
            <a:ext cx="292608" cy="292608"/>
          </a:xfrm>
          <a:prstGeom prst="ellipse">
            <a:avLst/>
          </a:prstGeom>
          <a:solidFill>
            <a:srgbClr val="51BAE7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0499141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32290" y="3090672"/>
            <a:ext cx="2026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8640" y="484632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51B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 ao caminho crítico: o tratamento destes dados é trabalho da Semana 3, não da Semana 4. Quem chegar sem a base tratada vai passar a semana limpando em vez de analisando.</a:t>
            </a:r>
            <a:endParaRPr lang="en-US" sz="1500" dirty="0"/>
          </a:p>
        </p:txBody>
      </p:sp>
      <p:pic>
        <p:nvPicPr>
          <p:cNvPr id="30" name="Image 0" descr="/home/claude/residencia/assets_tpl/rodape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71616"/>
            <a:ext cx="12191695" cy="78638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9722815" y="4572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7B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Desafio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28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30352" y="566928"/>
            <a:ext cx="146304" cy="146304"/>
          </a:xfrm>
          <a:prstGeom prst="ellipse">
            <a:avLst/>
          </a:prstGeom>
          <a:solidFill>
            <a:srgbClr val="51BAE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49808" y="4572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7B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SERÁ AVALIADO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mesma rubrica do Grande Desafio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5440680" cy="3840480"/>
          </a:xfrm>
          <a:prstGeom prst="roundRect">
            <a:avLst>
              <a:gd name="adj" fmla="val 2381"/>
            </a:avLst>
          </a:prstGeom>
          <a:solidFill>
            <a:srgbClr val="35352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95528" y="2395728"/>
            <a:ext cx="182880" cy="182880"/>
          </a:xfrm>
          <a:prstGeom prst="ellipse">
            <a:avLst/>
          </a:prstGeom>
          <a:solidFill>
            <a:srgbClr val="51BAE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88136" y="2240280"/>
            <a:ext cx="4581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1B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pesa mais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4800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Storytelling e decisão: 25%</a:t>
            </a:r>
            <a:endParaRPr lang="en-US" sz="145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e indicadores: 20%</a:t>
            </a:r>
            <a:endParaRPr lang="en-US" sz="145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Domínio da IA: 15%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63640" y="2011680"/>
            <a:ext cx="5440680" cy="3840480"/>
          </a:xfrm>
          <a:prstGeom prst="roundRect">
            <a:avLst>
              <a:gd name="adj" fmla="val 2381"/>
            </a:avLst>
          </a:prstGeom>
          <a:solidFill>
            <a:srgbClr val="35352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556248" y="2395728"/>
            <a:ext cx="182880" cy="182880"/>
          </a:xfrm>
          <a:prstGeom prst="ellipse">
            <a:avLst/>
          </a:prstGeom>
          <a:solidFill>
            <a:srgbClr val="FFCE50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48856" y="2240280"/>
            <a:ext cx="4581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o resto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83680" y="2880360"/>
            <a:ext cx="4800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técnica dos dados: 15%</a:t>
            </a:r>
            <a:endParaRPr lang="en-US" sz="145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e BI: 15%</a:t>
            </a:r>
            <a:endParaRPr lang="en-US" sz="145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Colaboração e rituais: 10%</a:t>
            </a:r>
            <a:endParaRPr lang="en-US" sz="1450" dirty="0"/>
          </a:p>
        </p:txBody>
      </p:sp>
      <p:pic>
        <p:nvPicPr>
          <p:cNvPr id="13" name="Image 0" descr="/home/claude/residencia/assets_tpl/rodape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71616"/>
            <a:ext cx="12191695" cy="7863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722815" y="4572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7B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Desafio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28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30352" y="566928"/>
            <a:ext cx="146304" cy="146304"/>
          </a:xfrm>
          <a:prstGeom prst="ellipse">
            <a:avLst/>
          </a:prstGeom>
          <a:solidFill>
            <a:srgbClr val="51BAE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49808" y="4572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7B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REGRA QUE VALE PARA TUDO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IA ao máximo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11155680" cy="3840480"/>
          </a:xfrm>
          <a:prstGeom prst="roundRect">
            <a:avLst>
              <a:gd name="adj" fmla="val 2857"/>
            </a:avLst>
          </a:prstGeom>
          <a:solidFill>
            <a:srgbClr val="35352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0" y="2487168"/>
            <a:ext cx="201168" cy="201168"/>
          </a:xfrm>
          <a:prstGeom prst="ellipse">
            <a:avLst/>
          </a:prstGeom>
          <a:solidFill>
            <a:srgbClr val="51BAE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278892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não entregue o que você não sabe explicar.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14400" y="4681728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arguição, qualquer integrante pode ser perguntado sobre qualquer decisão: por que este filtro, por que descartar aquela linha, por que este gráfico. A resposta esperada não é “eu escrevi o código”, é “pedi isto, a IA devolveu aquilo, validei assim, corrigi isto”. Ninguém perde ponto por usar IA. Perde por não registrar.</a:t>
            </a:r>
            <a:endParaRPr lang="en-US" sz="1600" dirty="0"/>
          </a:p>
        </p:txBody>
      </p:sp>
      <p:pic>
        <p:nvPicPr>
          <p:cNvPr id="9" name="Image 0" descr="/home/claude/residencia/assets_tpl/rodape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71616"/>
            <a:ext cx="12191695" cy="7863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22815" y="4572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7B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Desafio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28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30352" y="566928"/>
            <a:ext cx="146304" cy="146304"/>
          </a:xfrm>
          <a:prstGeom prst="ellipse">
            <a:avLst/>
          </a:prstGeom>
          <a:solidFill>
            <a:srgbClr val="51BAE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49808" y="4572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7B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DICAS DE SOBREVIVÊNCIA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costuma dar errado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5440680" cy="3840480"/>
          </a:xfrm>
          <a:prstGeom prst="roundRect">
            <a:avLst>
              <a:gd name="adj" fmla="val 2381"/>
            </a:avLst>
          </a:prstGeom>
          <a:solidFill>
            <a:srgbClr val="35352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95528" y="2395728"/>
            <a:ext cx="182880" cy="182880"/>
          </a:xfrm>
          <a:prstGeom prst="ellipse">
            <a:avLst/>
          </a:prstGeom>
          <a:solidFill>
            <a:srgbClr val="51BAE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88136" y="2240280"/>
            <a:ext cx="4581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1B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começo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4800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Comece pela pergunta, não pelo gráfico</a:t>
            </a:r>
            <a:endParaRPr lang="en-US" sz="145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Peça o diagnóstico antes de pedir a limpeza</a:t>
            </a:r>
            <a:endParaRPr lang="en-US" sz="145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Aprove o plano antes de aceitar o código</a:t>
            </a:r>
            <a:endParaRPr lang="en-US" sz="145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dos três números: refaça três contas na mão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63640" y="2011680"/>
            <a:ext cx="5440680" cy="3840480"/>
          </a:xfrm>
          <a:prstGeom prst="roundRect">
            <a:avLst>
              <a:gd name="adj" fmla="val 2381"/>
            </a:avLst>
          </a:prstGeom>
          <a:solidFill>
            <a:srgbClr val="35352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556248" y="2395728"/>
            <a:ext cx="182880" cy="182880"/>
          </a:xfrm>
          <a:prstGeom prst="ellipse">
            <a:avLst/>
          </a:prstGeom>
          <a:solidFill>
            <a:srgbClr val="FFCE50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48856" y="2240280"/>
            <a:ext cx="4581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meio do caminho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83680" y="2880360"/>
            <a:ext cx="4800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exige cruzar projetos, apontamentos e analistas</a:t>
            </a:r>
            <a:endParaRPr lang="en-US" sz="145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de percentual não é percentual do total</a:t>
            </a:r>
            <a:endParaRPr lang="en-US" sz="145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Cancelado e em andamento poluem a análise de margem</a:t>
            </a:r>
            <a:endParaRPr lang="en-US" sz="145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9F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Grave o vídeo antes do domingo à noite</a:t>
            </a:r>
            <a:endParaRPr lang="en-US" sz="1450" dirty="0"/>
          </a:p>
        </p:txBody>
      </p:sp>
      <p:pic>
        <p:nvPicPr>
          <p:cNvPr id="13" name="Image 0" descr="/home/claude/residencia/assets_tpl/rodape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71616"/>
            <a:ext cx="12191695" cy="7863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722815" y="4572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7B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Desafio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2026-07-30T14:38:27Z</dcterms:created>
  <dcterms:modified xsi:type="dcterms:W3CDTF">2026-07-30T14:38:27Z</dcterms:modified>
</cp:coreProperties>
</file>